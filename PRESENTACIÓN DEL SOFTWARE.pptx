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411479" y="441111"/>
            <a:ext cx="8321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300" sz="900">
                <a:solidFill>
                  <a:srgbClr val="8A9BB0"/>
                </a:solidFill>
              </a:defRPr>
            </a:lvl1pPr>
          </a:lstStyle>
          <a:p>
            <a:pPr/>
            <a:r>
              <a:t>LÓGICA DE PROGRAMACIÓN · UIDE · TRABAJO FINAL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411479" y="868680"/>
            <a:ext cx="5852161" cy="15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200">
                <a:solidFill>
                  <a:srgbClr val="FFFFFF"/>
                </a:solidFill>
              </a:defRPr>
            </a:pPr>
            <a:r>
              <a:t>Piedra, Papel</a:t>
            </a:r>
          </a:p>
          <a:p>
            <a:pPr>
              <a:defRPr b="1" sz="5200">
                <a:solidFill>
                  <a:srgbClr val="FFFFFF"/>
                </a:solidFill>
              </a:defRPr>
            </a:pPr>
            <a:r>
              <a:t>o Tijera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411479" y="3200602"/>
            <a:ext cx="5394961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62B6CB"/>
                </a:solidFill>
              </a:defRPr>
            </a:lvl1pPr>
          </a:lstStyle>
          <a:p>
            <a:pPr/>
            <a:r>
              <a:t>Software desarrollado en Python</a:t>
            </a:r>
          </a:p>
        </p:txBody>
      </p:sp>
      <p:sp>
        <p:nvSpPr>
          <p:cNvPr id="24" name="Shape 4"/>
          <p:cNvSpPr/>
          <p:nvPr/>
        </p:nvSpPr>
        <p:spPr>
          <a:xfrm>
            <a:off x="365759" y="3730752"/>
            <a:ext cx="5029201" cy="27433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411479" y="3917495"/>
            <a:ext cx="7680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8A9BB0"/>
                </a:solidFill>
              </a:defRPr>
            </a:pPr>
            <a:r>
              <a:t>Docente: </a:t>
            </a:r>
            <a:r>
              <a:rPr b="0"/>
              <a:t>Ing. Mónica Salazar   ·   Ingeniería en Software  ·  01/03/2026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532120" y="1808479"/>
            <a:ext cx="3291840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✊  📄  ✂️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502919" y="394841"/>
            <a:ext cx="81381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1E2328"/>
                </a:solidFill>
              </a:defRPr>
            </a:lvl1pPr>
          </a:lstStyle>
          <a:p>
            <a:pPr/>
            <a:r>
              <a:t>Contenido de la Presentación</a:t>
            </a:r>
          </a:p>
        </p:txBody>
      </p:sp>
      <p:sp>
        <p:nvSpPr>
          <p:cNvPr id="29" name="Shape 1"/>
          <p:cNvSpPr/>
          <p:nvPr/>
        </p:nvSpPr>
        <p:spPr>
          <a:xfrm>
            <a:off x="457200" y="960119"/>
            <a:ext cx="8229600" cy="27433"/>
          </a:xfrm>
          <a:prstGeom prst="rect">
            <a:avLst/>
          </a:prstGeom>
          <a:solidFill>
            <a:srgbClr val="D0D9E3"/>
          </a:solidFill>
          <a:ln w="12700">
            <a:solidFill>
              <a:srgbClr val="D0D9E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2"/>
          <p:cNvSpPr/>
          <p:nvPr/>
        </p:nvSpPr>
        <p:spPr>
          <a:xfrm>
            <a:off x="457200" y="1097280"/>
            <a:ext cx="502920" cy="438912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" name="Text 3"/>
          <p:cNvSpPr txBox="1"/>
          <p:nvPr/>
        </p:nvSpPr>
        <p:spPr>
          <a:xfrm>
            <a:off x="457200" y="1222056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1124711" y="1176336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Objetivo del Proyecto</a:t>
            </a:r>
          </a:p>
        </p:txBody>
      </p:sp>
      <p:sp>
        <p:nvSpPr>
          <p:cNvPr id="33" name="Shape 5"/>
          <p:cNvSpPr/>
          <p:nvPr/>
        </p:nvSpPr>
        <p:spPr>
          <a:xfrm>
            <a:off x="457200" y="1755648"/>
            <a:ext cx="502920" cy="43891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" name="Text 6"/>
          <p:cNvSpPr txBox="1"/>
          <p:nvPr/>
        </p:nvSpPr>
        <p:spPr>
          <a:xfrm>
            <a:off x="457200" y="1880424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5" name="Text 7"/>
          <p:cNvSpPr txBox="1"/>
          <p:nvPr/>
        </p:nvSpPr>
        <p:spPr>
          <a:xfrm>
            <a:off x="1124711" y="1834704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Cronograma de Trabajo</a:t>
            </a:r>
          </a:p>
        </p:txBody>
      </p:sp>
      <p:sp>
        <p:nvSpPr>
          <p:cNvPr id="36" name="Shape 8"/>
          <p:cNvSpPr/>
          <p:nvPr/>
        </p:nvSpPr>
        <p:spPr>
          <a:xfrm>
            <a:off x="457200" y="2414016"/>
            <a:ext cx="502920" cy="438912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" name="Text 9"/>
          <p:cNvSpPr txBox="1"/>
          <p:nvPr/>
        </p:nvSpPr>
        <p:spPr>
          <a:xfrm>
            <a:off x="457200" y="2538792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1124711" y="2493072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Diagrama de Uso</a:t>
            </a:r>
          </a:p>
        </p:txBody>
      </p:sp>
      <p:sp>
        <p:nvSpPr>
          <p:cNvPr id="39" name="Shape 11"/>
          <p:cNvSpPr/>
          <p:nvPr/>
        </p:nvSpPr>
        <p:spPr>
          <a:xfrm>
            <a:off x="457200" y="3072383"/>
            <a:ext cx="502920" cy="43891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457200" y="3197160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1124711" y="3151440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Diagrama de Arquitectura</a:t>
            </a:r>
          </a:p>
        </p:txBody>
      </p:sp>
      <p:sp>
        <p:nvSpPr>
          <p:cNvPr id="42" name="Shape 14"/>
          <p:cNvSpPr/>
          <p:nvPr/>
        </p:nvSpPr>
        <p:spPr>
          <a:xfrm>
            <a:off x="457200" y="3730752"/>
            <a:ext cx="502920" cy="43891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" name="Text 15"/>
          <p:cNvSpPr txBox="1"/>
          <p:nvPr/>
        </p:nvSpPr>
        <p:spPr>
          <a:xfrm>
            <a:off x="457200" y="3855528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4" name="Text 16"/>
          <p:cNvSpPr txBox="1"/>
          <p:nvPr/>
        </p:nvSpPr>
        <p:spPr>
          <a:xfrm>
            <a:off x="1124711" y="3809808"/>
            <a:ext cx="3108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Diagrama de Flujo</a:t>
            </a:r>
          </a:p>
        </p:txBody>
      </p:sp>
      <p:sp>
        <p:nvSpPr>
          <p:cNvPr id="45" name="Shape 17"/>
          <p:cNvSpPr/>
          <p:nvPr/>
        </p:nvSpPr>
        <p:spPr>
          <a:xfrm>
            <a:off x="4663440" y="1097280"/>
            <a:ext cx="502920" cy="438912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" name="Text 18"/>
          <p:cNvSpPr txBox="1"/>
          <p:nvPr/>
        </p:nvSpPr>
        <p:spPr>
          <a:xfrm>
            <a:off x="4663440" y="1222056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7" name="Text 19"/>
          <p:cNvSpPr txBox="1"/>
          <p:nvPr/>
        </p:nvSpPr>
        <p:spPr>
          <a:xfrm>
            <a:off x="5330952" y="1176336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Conceptos Aplicados</a:t>
            </a:r>
          </a:p>
        </p:txBody>
      </p:sp>
      <p:sp>
        <p:nvSpPr>
          <p:cNvPr id="48" name="Shape 20"/>
          <p:cNvSpPr/>
          <p:nvPr/>
        </p:nvSpPr>
        <p:spPr>
          <a:xfrm>
            <a:off x="4663440" y="1755648"/>
            <a:ext cx="502920" cy="438913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Text 21"/>
          <p:cNvSpPr txBox="1"/>
          <p:nvPr/>
        </p:nvSpPr>
        <p:spPr>
          <a:xfrm>
            <a:off x="4663440" y="1880424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50" name="Text 22"/>
          <p:cNvSpPr txBox="1"/>
          <p:nvPr/>
        </p:nvSpPr>
        <p:spPr>
          <a:xfrm>
            <a:off x="5330952" y="1834704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Demostración del Código</a:t>
            </a:r>
          </a:p>
        </p:txBody>
      </p:sp>
      <p:sp>
        <p:nvSpPr>
          <p:cNvPr id="51" name="Shape 23"/>
          <p:cNvSpPr/>
          <p:nvPr/>
        </p:nvSpPr>
        <p:spPr>
          <a:xfrm>
            <a:off x="4663440" y="2414016"/>
            <a:ext cx="502920" cy="438912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Text 24"/>
          <p:cNvSpPr txBox="1"/>
          <p:nvPr/>
        </p:nvSpPr>
        <p:spPr>
          <a:xfrm>
            <a:off x="4663440" y="2538792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53" name="Text 25"/>
          <p:cNvSpPr txBox="1"/>
          <p:nvPr/>
        </p:nvSpPr>
        <p:spPr>
          <a:xfrm>
            <a:off x="5330952" y="2493072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Funcionalidades Principales</a:t>
            </a:r>
          </a:p>
        </p:txBody>
      </p:sp>
      <p:sp>
        <p:nvSpPr>
          <p:cNvPr id="54" name="Shape 26"/>
          <p:cNvSpPr/>
          <p:nvPr/>
        </p:nvSpPr>
        <p:spPr>
          <a:xfrm>
            <a:off x="4663440" y="3072383"/>
            <a:ext cx="502920" cy="438913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Text 27"/>
          <p:cNvSpPr txBox="1"/>
          <p:nvPr/>
        </p:nvSpPr>
        <p:spPr>
          <a:xfrm>
            <a:off x="4663440" y="3197160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56" name="Text 28"/>
          <p:cNvSpPr txBox="1"/>
          <p:nvPr/>
        </p:nvSpPr>
        <p:spPr>
          <a:xfrm>
            <a:off x="5330952" y="315144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Ejecución del Programa</a:t>
            </a:r>
          </a:p>
        </p:txBody>
      </p:sp>
      <p:sp>
        <p:nvSpPr>
          <p:cNvPr id="57" name="Shape 29"/>
          <p:cNvSpPr/>
          <p:nvPr/>
        </p:nvSpPr>
        <p:spPr>
          <a:xfrm>
            <a:off x="4663440" y="3730752"/>
            <a:ext cx="502920" cy="438913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Text 30"/>
          <p:cNvSpPr txBox="1"/>
          <p:nvPr/>
        </p:nvSpPr>
        <p:spPr>
          <a:xfrm>
            <a:off x="4663440" y="3855528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9" name="Text 31"/>
          <p:cNvSpPr txBox="1"/>
          <p:nvPr/>
        </p:nvSpPr>
        <p:spPr>
          <a:xfrm>
            <a:off x="5330952" y="3809808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E2328"/>
                </a:solidFill>
              </a:defRPr>
            </a:lvl1pPr>
          </a:lstStyle>
          <a:p>
            <a:pPr/>
            <a:r>
              <a:t>Conclusión Personal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Objetivo del Proyecto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594360" y="1208340"/>
            <a:ext cx="7955279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4F5F7"/>
                </a:solidFill>
              </a:defRPr>
            </a:lvl1pPr>
          </a:lstStyle>
          <a:p>
            <a:pPr/>
            <a:r>
              <a:t>Desarrollar un software en Python que simula el juego de Piedra, Papel o Tijera, aplicando conceptos fundamentales vistos en la materia durante las 4 unidades del módulo académico.</a:t>
            </a:r>
          </a:p>
        </p:txBody>
      </p:sp>
      <p:sp>
        <p:nvSpPr>
          <p:cNvPr id="64" name="Shape 3"/>
          <p:cNvSpPr/>
          <p:nvPr/>
        </p:nvSpPr>
        <p:spPr>
          <a:xfrm>
            <a:off x="457200" y="2103120"/>
            <a:ext cx="2606040" cy="2651761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4"/>
          <p:cNvSpPr/>
          <p:nvPr/>
        </p:nvSpPr>
        <p:spPr>
          <a:xfrm>
            <a:off x="457200" y="2103120"/>
            <a:ext cx="2606040" cy="54865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5"/>
          <p:cNvSpPr txBox="1"/>
          <p:nvPr/>
        </p:nvSpPr>
        <p:spPr>
          <a:xfrm>
            <a:off x="502920" y="2233929"/>
            <a:ext cx="25146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🎯</a:t>
            </a:r>
          </a:p>
        </p:txBody>
      </p:sp>
      <p:sp>
        <p:nvSpPr>
          <p:cNvPr id="67" name="Text 6"/>
          <p:cNvSpPr txBox="1"/>
          <p:nvPr/>
        </p:nvSpPr>
        <p:spPr>
          <a:xfrm>
            <a:off x="594359" y="2956999"/>
            <a:ext cx="233172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62B6CB"/>
                </a:solidFill>
              </a:defRPr>
            </a:lvl1pPr>
          </a:lstStyle>
          <a:p>
            <a:pPr/>
            <a:r>
              <a:t>Aplicar Conceptos</a:t>
            </a:r>
          </a:p>
        </p:txBody>
      </p:sp>
      <p:sp>
        <p:nvSpPr>
          <p:cNvPr id="68" name="Text 7"/>
          <p:cNvSpPr txBox="1"/>
          <p:nvPr/>
        </p:nvSpPr>
        <p:spPr>
          <a:xfrm>
            <a:off x="612647" y="3699685"/>
            <a:ext cx="2304290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4F5F7"/>
                </a:solidFill>
              </a:defRPr>
            </a:lvl1pPr>
          </a:lstStyle>
          <a:p>
            <a:pPr/>
            <a:r>
              <a:t>Implementar estructuras de control, bucles y tipos de datos en un proyecto funcional real.</a:t>
            </a:r>
          </a:p>
        </p:txBody>
      </p:sp>
      <p:sp>
        <p:nvSpPr>
          <p:cNvPr id="69" name="Shape 8"/>
          <p:cNvSpPr/>
          <p:nvPr/>
        </p:nvSpPr>
        <p:spPr>
          <a:xfrm>
            <a:off x="3291840" y="2103120"/>
            <a:ext cx="2606041" cy="2651761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Shape 9"/>
          <p:cNvSpPr/>
          <p:nvPr/>
        </p:nvSpPr>
        <p:spPr>
          <a:xfrm>
            <a:off x="3291840" y="2103120"/>
            <a:ext cx="2606041" cy="54865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0"/>
          <p:cNvSpPr txBox="1"/>
          <p:nvPr/>
        </p:nvSpPr>
        <p:spPr>
          <a:xfrm>
            <a:off x="3337560" y="2233929"/>
            <a:ext cx="251460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</a:t>
            </a:r>
          </a:p>
        </p:txBody>
      </p:sp>
      <p:sp>
        <p:nvSpPr>
          <p:cNvPr id="72" name="Text 11"/>
          <p:cNvSpPr txBox="1"/>
          <p:nvPr/>
        </p:nvSpPr>
        <p:spPr>
          <a:xfrm>
            <a:off x="3429000" y="2956999"/>
            <a:ext cx="23317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62B6CB"/>
                </a:solidFill>
              </a:defRPr>
            </a:lvl1pPr>
          </a:lstStyle>
          <a:p>
            <a:pPr/>
            <a:r>
              <a:t>Lógica de IA Simple</a:t>
            </a:r>
          </a:p>
        </p:txBody>
      </p:sp>
      <p:sp>
        <p:nvSpPr>
          <p:cNvPr id="73" name="Text 12"/>
          <p:cNvSpPr txBox="1"/>
          <p:nvPr/>
        </p:nvSpPr>
        <p:spPr>
          <a:xfrm>
            <a:off x="3447288" y="3699685"/>
            <a:ext cx="2304289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4F5F7"/>
                </a:solidFill>
              </a:defRPr>
            </a:lvl1pPr>
          </a:lstStyle>
          <a:p>
            <a:pPr/>
            <a:r>
              <a:t>La computadora decide aleatoriamente usando el módulo random de Python.</a:t>
            </a:r>
          </a:p>
        </p:txBody>
      </p:sp>
      <p:sp>
        <p:nvSpPr>
          <p:cNvPr id="74" name="Shape 13"/>
          <p:cNvSpPr/>
          <p:nvPr/>
        </p:nvSpPr>
        <p:spPr>
          <a:xfrm>
            <a:off x="6126479" y="2103120"/>
            <a:ext cx="2606041" cy="2651761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14"/>
          <p:cNvSpPr/>
          <p:nvPr/>
        </p:nvSpPr>
        <p:spPr>
          <a:xfrm>
            <a:off x="6126479" y="2103120"/>
            <a:ext cx="2606041" cy="54865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5"/>
          <p:cNvSpPr txBox="1"/>
          <p:nvPr/>
        </p:nvSpPr>
        <p:spPr>
          <a:xfrm>
            <a:off x="6172200" y="2233929"/>
            <a:ext cx="251460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🏆</a:t>
            </a:r>
          </a:p>
        </p:txBody>
      </p:sp>
      <p:sp>
        <p:nvSpPr>
          <p:cNvPr id="77" name="Text 16"/>
          <p:cNvSpPr txBox="1"/>
          <p:nvPr/>
        </p:nvSpPr>
        <p:spPr>
          <a:xfrm>
            <a:off x="6263640" y="2956999"/>
            <a:ext cx="23317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62B6CB"/>
                </a:solidFill>
              </a:defRPr>
            </a:lvl1pPr>
          </a:lstStyle>
          <a:p>
            <a:pPr/>
            <a:r>
              <a:t>Experiencia Completa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6281928" y="3699685"/>
            <a:ext cx="2304289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4F5F7"/>
                </a:solidFill>
              </a:defRPr>
            </a:lvl1pPr>
          </a:lstStyle>
          <a:p>
            <a:pPr/>
            <a:r>
              <a:t>Marcador acumulativo, historial de partidas y repetición hasta que el usuario decida salir.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Cronograma de Trabajo — 8 Semanas</a:t>
            </a:r>
          </a:p>
        </p:txBody>
      </p:sp>
      <p:pic>
        <p:nvPicPr>
          <p:cNvPr id="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960119"/>
            <a:ext cx="8503920" cy="39776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Diagrama de Uso (UML)</a:t>
            </a:r>
          </a:p>
        </p:txBody>
      </p:sp>
      <p:pic>
        <p:nvPicPr>
          <p:cNvPr id="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05839"/>
            <a:ext cx="4114800" cy="3840481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Text 2"/>
          <p:cNvSpPr txBox="1"/>
          <p:nvPr/>
        </p:nvSpPr>
        <p:spPr>
          <a:xfrm>
            <a:off x="4800600" y="1098869"/>
            <a:ext cx="2103121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▶ Iniciar Juego</a:t>
            </a:r>
          </a:p>
        </p:txBody>
      </p:sp>
      <p:sp>
        <p:nvSpPr>
          <p:cNvPr id="88" name="Text 3"/>
          <p:cNvSpPr txBox="1"/>
          <p:nvPr/>
        </p:nvSpPr>
        <p:spPr>
          <a:xfrm>
            <a:off x="4800600" y="1386762"/>
            <a:ext cx="40690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El usuario arranca el sistema.</a:t>
            </a:r>
          </a:p>
        </p:txBody>
      </p:sp>
      <p:sp>
        <p:nvSpPr>
          <p:cNvPr id="89" name="Text 4"/>
          <p:cNvSpPr txBox="1"/>
          <p:nvPr/>
        </p:nvSpPr>
        <p:spPr>
          <a:xfrm>
            <a:off x="4800600" y="1737360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🤚 Seleccionar opción</a:t>
            </a:r>
          </a:p>
        </p:txBody>
      </p:sp>
      <p:sp>
        <p:nvSpPr>
          <p:cNvPr id="90" name="Text 5"/>
          <p:cNvSpPr txBox="1"/>
          <p:nvPr/>
        </p:nvSpPr>
        <p:spPr>
          <a:xfrm>
            <a:off x="4800600" y="2054274"/>
            <a:ext cx="40690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Elige piedra, papel o tijera.</a:t>
            </a:r>
          </a:p>
        </p:txBody>
      </p:sp>
      <p:sp>
        <p:nvSpPr>
          <p:cNvPr id="91" name="Text 6"/>
          <p:cNvSpPr txBox="1"/>
          <p:nvPr/>
        </p:nvSpPr>
        <p:spPr>
          <a:xfrm>
            <a:off x="4800600" y="2404872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🎲 Generar jugada PC</a:t>
            </a:r>
          </a:p>
        </p:txBody>
      </p:sp>
      <p:sp>
        <p:nvSpPr>
          <p:cNvPr id="92" name="Text 7"/>
          <p:cNvSpPr txBox="1"/>
          <p:nvPr/>
        </p:nvSpPr>
        <p:spPr>
          <a:xfrm>
            <a:off x="4800600" y="2721786"/>
            <a:ext cx="40690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El computador elige aleatoriamente.</a:t>
            </a:r>
          </a:p>
        </p:txBody>
      </p:sp>
      <p:sp>
        <p:nvSpPr>
          <p:cNvPr id="93" name="Text 8"/>
          <p:cNvSpPr txBox="1"/>
          <p:nvPr/>
        </p:nvSpPr>
        <p:spPr>
          <a:xfrm>
            <a:off x="4800600" y="3072384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⚖️ Comparar jugadas</a:t>
            </a:r>
          </a:p>
        </p:txBody>
      </p:sp>
      <p:sp>
        <p:nvSpPr>
          <p:cNvPr id="94" name="Text 9"/>
          <p:cNvSpPr txBox="1"/>
          <p:nvPr/>
        </p:nvSpPr>
        <p:spPr>
          <a:xfrm>
            <a:off x="4800600" y="3389297"/>
            <a:ext cx="40690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Se evalúan y se determina el ganador.</a:t>
            </a:r>
          </a:p>
        </p:txBody>
      </p:sp>
      <p:sp>
        <p:nvSpPr>
          <p:cNvPr id="95" name="Text 10"/>
          <p:cNvSpPr txBox="1"/>
          <p:nvPr/>
        </p:nvSpPr>
        <p:spPr>
          <a:xfrm>
            <a:off x="4800600" y="3739896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📊 Mostrar resultado</a:t>
            </a:r>
          </a:p>
        </p:txBody>
      </p:sp>
      <p:sp>
        <p:nvSpPr>
          <p:cNvPr id="96" name="Text 11"/>
          <p:cNvSpPr txBox="1"/>
          <p:nvPr/>
        </p:nvSpPr>
        <p:spPr>
          <a:xfrm>
            <a:off x="4800600" y="4056810"/>
            <a:ext cx="40690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Se actualiza el marcador e historial.</a:t>
            </a:r>
          </a:p>
        </p:txBody>
      </p:sp>
      <p:sp>
        <p:nvSpPr>
          <p:cNvPr id="97" name="Text 12"/>
          <p:cNvSpPr txBox="1"/>
          <p:nvPr/>
        </p:nvSpPr>
        <p:spPr>
          <a:xfrm>
            <a:off x="4800600" y="4407408"/>
            <a:ext cx="2103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🔄 Reiniciar / Salir</a:t>
            </a:r>
          </a:p>
        </p:txBody>
      </p:sp>
      <p:sp>
        <p:nvSpPr>
          <p:cNvPr id="98" name="Text 13"/>
          <p:cNvSpPr txBox="1"/>
          <p:nvPr/>
        </p:nvSpPr>
        <p:spPr>
          <a:xfrm>
            <a:off x="4800600" y="4724322"/>
            <a:ext cx="40690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El usuario decide continuar o salir.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Diagrama de Arquitectura del Software</a:t>
            </a:r>
          </a:p>
        </p:txBody>
      </p:sp>
      <p:pic>
        <p:nvPicPr>
          <p:cNvPr id="1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1005839"/>
            <a:ext cx="4206242" cy="3840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2"/>
          <p:cNvSpPr/>
          <p:nvPr/>
        </p:nvSpPr>
        <p:spPr>
          <a:xfrm>
            <a:off x="4892040" y="1051560"/>
            <a:ext cx="3931921" cy="11704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Shape 3"/>
          <p:cNvSpPr/>
          <p:nvPr/>
        </p:nvSpPr>
        <p:spPr>
          <a:xfrm>
            <a:off x="4892040" y="1051560"/>
            <a:ext cx="64009" cy="117043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4"/>
          <p:cNvSpPr txBox="1"/>
          <p:nvPr/>
        </p:nvSpPr>
        <p:spPr>
          <a:xfrm>
            <a:off x="5074920" y="1210871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BF"/>
                </a:solidFill>
              </a:defRPr>
            </a:lvl1pPr>
          </a:lstStyle>
          <a:p>
            <a:pPr/>
            <a:r>
              <a:t>Capa de Interfaz</a:t>
            </a:r>
          </a:p>
        </p:txBody>
      </p:sp>
      <p:sp>
        <p:nvSpPr>
          <p:cNvPr id="106" name="Text 5"/>
          <p:cNvSpPr txBox="1"/>
          <p:nvPr/>
        </p:nvSpPr>
        <p:spPr>
          <a:xfrm>
            <a:off x="5074920" y="1478202"/>
            <a:ext cx="36118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Interfaz del Juego</a:t>
            </a:r>
          </a:p>
        </p:txBody>
      </p:sp>
      <p:sp>
        <p:nvSpPr>
          <p:cNvPr id="107" name="Text 6"/>
          <p:cNvSpPr txBox="1"/>
          <p:nvPr/>
        </p:nvSpPr>
        <p:spPr>
          <a:xfrm>
            <a:off x="5074920" y="1760010"/>
            <a:ext cx="361188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9BB0"/>
                </a:solidFill>
              </a:defRPr>
            </a:lvl1pPr>
          </a:lstStyle>
          <a:p>
            <a:pPr/>
            <a:r>
              <a:t>Recibe la interacción del usuario (selección y comandos) y muestra la salida visual en consola.</a:t>
            </a:r>
          </a:p>
        </p:txBody>
      </p:sp>
      <p:sp>
        <p:nvSpPr>
          <p:cNvPr id="108" name="Shape 7"/>
          <p:cNvSpPr/>
          <p:nvPr/>
        </p:nvSpPr>
        <p:spPr>
          <a:xfrm>
            <a:off x="4892040" y="2404872"/>
            <a:ext cx="3931921" cy="11704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Shape 8"/>
          <p:cNvSpPr/>
          <p:nvPr/>
        </p:nvSpPr>
        <p:spPr>
          <a:xfrm>
            <a:off x="4892040" y="2404872"/>
            <a:ext cx="64009" cy="1170433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9"/>
          <p:cNvSpPr txBox="1"/>
          <p:nvPr/>
        </p:nvSpPr>
        <p:spPr>
          <a:xfrm>
            <a:off x="5074920" y="2564183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07B39"/>
                </a:solidFill>
              </a:defRPr>
            </a:lvl1pPr>
          </a:lstStyle>
          <a:p>
            <a:pPr/>
            <a:r>
              <a:t>Capa de Lógica</a:t>
            </a:r>
          </a:p>
        </p:txBody>
      </p:sp>
      <p:sp>
        <p:nvSpPr>
          <p:cNvPr id="111" name="Text 10"/>
          <p:cNvSpPr txBox="1"/>
          <p:nvPr/>
        </p:nvSpPr>
        <p:spPr>
          <a:xfrm>
            <a:off x="5074920" y="2831514"/>
            <a:ext cx="36118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Lógica del Juego</a:t>
            </a:r>
          </a:p>
        </p:txBody>
      </p:sp>
      <p:sp>
        <p:nvSpPr>
          <p:cNvPr id="112" name="Text 11"/>
          <p:cNvSpPr txBox="1"/>
          <p:nvPr/>
        </p:nvSpPr>
        <p:spPr>
          <a:xfrm>
            <a:off x="5074920" y="3113322"/>
            <a:ext cx="36118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9BB0"/>
                </a:solidFill>
              </a:defRPr>
            </a:lvl1pPr>
          </a:lstStyle>
          <a:p>
            <a:pPr/>
            <a:r>
              <a:t>Procesa las reglas del juego: compara jugadas y determina el resultado mediante las estructuras condicionales.</a:t>
            </a:r>
          </a:p>
        </p:txBody>
      </p:sp>
      <p:sp>
        <p:nvSpPr>
          <p:cNvPr id="113" name="Shape 12"/>
          <p:cNvSpPr/>
          <p:nvPr/>
        </p:nvSpPr>
        <p:spPr>
          <a:xfrm>
            <a:off x="4892040" y="3758184"/>
            <a:ext cx="3931921" cy="11704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Shape 13"/>
          <p:cNvSpPr/>
          <p:nvPr/>
        </p:nvSpPr>
        <p:spPr>
          <a:xfrm>
            <a:off x="4892040" y="3758184"/>
            <a:ext cx="64009" cy="117043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4"/>
          <p:cNvSpPr txBox="1"/>
          <p:nvPr/>
        </p:nvSpPr>
        <p:spPr>
          <a:xfrm>
            <a:off x="5074920" y="3917495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7B5EA7"/>
                </a:solidFill>
              </a:defRPr>
            </a:lvl1pPr>
          </a:lstStyle>
          <a:p>
            <a:pPr/>
            <a:r>
              <a:t>Capa de Resultados</a:t>
            </a:r>
          </a:p>
        </p:txBody>
      </p:sp>
      <p:sp>
        <p:nvSpPr>
          <p:cNvPr id="116" name="Text 15"/>
          <p:cNvSpPr txBox="1"/>
          <p:nvPr/>
        </p:nvSpPr>
        <p:spPr>
          <a:xfrm>
            <a:off x="5074920" y="4184825"/>
            <a:ext cx="36118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E2328"/>
                </a:solidFill>
              </a:defRPr>
            </a:lvl1pPr>
          </a:lstStyle>
          <a:p>
            <a:pPr/>
            <a:r>
              <a:t>Módulo de Resultados</a:t>
            </a:r>
          </a:p>
        </p:txBody>
      </p:sp>
      <p:sp>
        <p:nvSpPr>
          <p:cNvPr id="117" name="Text 16"/>
          <p:cNvSpPr txBox="1"/>
          <p:nvPr/>
        </p:nvSpPr>
        <p:spPr>
          <a:xfrm>
            <a:off x="5074920" y="4466634"/>
            <a:ext cx="36118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9BB0"/>
                </a:solidFill>
              </a:defRPr>
            </a:lvl1pPr>
          </a:lstStyle>
          <a:p>
            <a:pPr/>
            <a:r>
              <a:t>Muestra el ganador, actualiza el marcador acumulativo y registra el historial de partidas.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Diagrama de Flujo del Programa</a:t>
            </a:r>
          </a:p>
        </p:txBody>
      </p:sp>
      <p:sp>
        <p:nvSpPr>
          <p:cNvPr id="121" name="Shape 2"/>
          <p:cNvSpPr/>
          <p:nvPr/>
        </p:nvSpPr>
        <p:spPr>
          <a:xfrm>
            <a:off x="502919" y="1005839"/>
            <a:ext cx="2103122" cy="420625"/>
          </a:xfrm>
          <a:prstGeom prst="rect">
            <a:avLst/>
          </a:prstGeom>
          <a:solidFill>
            <a:srgbClr val="4A9EB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"/>
          <p:cNvSpPr txBox="1"/>
          <p:nvPr/>
        </p:nvSpPr>
        <p:spPr>
          <a:xfrm>
            <a:off x="502919" y="1147616"/>
            <a:ext cx="21031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INICIO</a:t>
            </a:r>
          </a:p>
        </p:txBody>
      </p:sp>
      <p:sp>
        <p:nvSpPr>
          <p:cNvPr id="123" name="Shape 4"/>
          <p:cNvSpPr/>
          <p:nvPr/>
        </p:nvSpPr>
        <p:spPr>
          <a:xfrm>
            <a:off x="1554479" y="1426464"/>
            <a:ext cx="1" cy="146305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5"/>
          <p:cNvSpPr/>
          <p:nvPr/>
        </p:nvSpPr>
        <p:spPr>
          <a:xfrm>
            <a:off x="502919" y="1572767"/>
            <a:ext cx="2103122" cy="420625"/>
          </a:xfrm>
          <a:prstGeom prst="rect">
            <a:avLst/>
          </a:prstGeom>
          <a:solidFill>
            <a:srgbClr val="2C334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6"/>
          <p:cNvSpPr txBox="1"/>
          <p:nvPr/>
        </p:nvSpPr>
        <p:spPr>
          <a:xfrm>
            <a:off x="502919" y="1631994"/>
            <a:ext cx="21031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Mostrar menú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(Jugar / Historial / Salir)</a:t>
            </a:r>
          </a:p>
        </p:txBody>
      </p:sp>
      <p:sp>
        <p:nvSpPr>
          <p:cNvPr id="126" name="Shape 7"/>
          <p:cNvSpPr/>
          <p:nvPr/>
        </p:nvSpPr>
        <p:spPr>
          <a:xfrm>
            <a:off x="1554479" y="1993392"/>
            <a:ext cx="1" cy="155449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8"/>
          <p:cNvSpPr/>
          <p:nvPr/>
        </p:nvSpPr>
        <p:spPr>
          <a:xfrm>
            <a:off x="502919" y="2148839"/>
            <a:ext cx="2103122" cy="420625"/>
          </a:xfrm>
          <a:prstGeom prst="rect">
            <a:avLst/>
          </a:prstGeom>
          <a:solidFill>
            <a:srgbClr val="5C3375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9"/>
          <p:cNvSpPr txBox="1"/>
          <p:nvPr/>
        </p:nvSpPr>
        <p:spPr>
          <a:xfrm>
            <a:off x="502919" y="2290616"/>
            <a:ext cx="21031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¿Opción = Salir?</a:t>
            </a:r>
          </a:p>
        </p:txBody>
      </p:sp>
      <p:sp>
        <p:nvSpPr>
          <p:cNvPr id="129" name="Shape 10"/>
          <p:cNvSpPr/>
          <p:nvPr/>
        </p:nvSpPr>
        <p:spPr>
          <a:xfrm>
            <a:off x="1554479" y="2569464"/>
            <a:ext cx="1" cy="155449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1"/>
          <p:cNvSpPr/>
          <p:nvPr/>
        </p:nvSpPr>
        <p:spPr>
          <a:xfrm>
            <a:off x="502919" y="2724911"/>
            <a:ext cx="2103122" cy="420625"/>
          </a:xfrm>
          <a:prstGeom prst="rect">
            <a:avLst/>
          </a:prstGeom>
          <a:solidFill>
            <a:srgbClr val="2C334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2"/>
          <p:cNvSpPr txBox="1"/>
          <p:nvPr/>
        </p:nvSpPr>
        <p:spPr>
          <a:xfrm>
            <a:off x="502919" y="2744723"/>
            <a:ext cx="21031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Jugador elige: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✊ / 📄 / ✂️</a:t>
            </a:r>
          </a:p>
        </p:txBody>
      </p:sp>
      <p:sp>
        <p:nvSpPr>
          <p:cNvPr id="132" name="Shape 13"/>
          <p:cNvSpPr/>
          <p:nvPr/>
        </p:nvSpPr>
        <p:spPr>
          <a:xfrm>
            <a:off x="1554479" y="3145535"/>
            <a:ext cx="1" cy="164593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4"/>
          <p:cNvSpPr/>
          <p:nvPr/>
        </p:nvSpPr>
        <p:spPr>
          <a:xfrm>
            <a:off x="502919" y="3310128"/>
            <a:ext cx="2103122" cy="420625"/>
          </a:xfrm>
          <a:prstGeom prst="rect">
            <a:avLst/>
          </a:prstGeom>
          <a:solidFill>
            <a:srgbClr val="2C334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5"/>
          <p:cNvSpPr txBox="1"/>
          <p:nvPr/>
        </p:nvSpPr>
        <p:spPr>
          <a:xfrm>
            <a:off x="502919" y="3369354"/>
            <a:ext cx="21031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PC elige con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random.choice()</a:t>
            </a:r>
          </a:p>
        </p:txBody>
      </p:sp>
      <p:sp>
        <p:nvSpPr>
          <p:cNvPr id="135" name="Shape 16"/>
          <p:cNvSpPr/>
          <p:nvPr/>
        </p:nvSpPr>
        <p:spPr>
          <a:xfrm>
            <a:off x="1554479" y="3730752"/>
            <a:ext cx="1" cy="164593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17"/>
          <p:cNvSpPr/>
          <p:nvPr/>
        </p:nvSpPr>
        <p:spPr>
          <a:xfrm>
            <a:off x="502919" y="3895344"/>
            <a:ext cx="2103122" cy="420625"/>
          </a:xfrm>
          <a:prstGeom prst="rect">
            <a:avLst/>
          </a:prstGeom>
          <a:solidFill>
            <a:srgbClr val="2C334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8"/>
          <p:cNvSpPr txBox="1"/>
          <p:nvPr/>
        </p:nvSpPr>
        <p:spPr>
          <a:xfrm>
            <a:off x="502919" y="3954570"/>
            <a:ext cx="21031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Comparar elecciones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→ Determinar ganador</a:t>
            </a:r>
          </a:p>
        </p:txBody>
      </p:sp>
      <p:sp>
        <p:nvSpPr>
          <p:cNvPr id="138" name="Shape 19"/>
          <p:cNvSpPr/>
          <p:nvPr/>
        </p:nvSpPr>
        <p:spPr>
          <a:xfrm>
            <a:off x="1554479" y="4315968"/>
            <a:ext cx="1" cy="164593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20"/>
          <p:cNvSpPr/>
          <p:nvPr/>
        </p:nvSpPr>
        <p:spPr>
          <a:xfrm>
            <a:off x="502919" y="4480559"/>
            <a:ext cx="2103122" cy="420625"/>
          </a:xfrm>
          <a:prstGeom prst="rect">
            <a:avLst/>
          </a:prstGeom>
          <a:solidFill>
            <a:srgbClr val="2C334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21"/>
          <p:cNvSpPr txBox="1"/>
          <p:nvPr/>
        </p:nvSpPr>
        <p:spPr>
          <a:xfrm>
            <a:off x="502919" y="4539786"/>
            <a:ext cx="21031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Actualizar marcador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+ Historial</a:t>
            </a:r>
          </a:p>
        </p:txBody>
      </p:sp>
      <p:sp>
        <p:nvSpPr>
          <p:cNvPr id="141" name="Text 22"/>
          <p:cNvSpPr txBox="1"/>
          <p:nvPr/>
        </p:nvSpPr>
        <p:spPr>
          <a:xfrm>
            <a:off x="2697480" y="2244896"/>
            <a:ext cx="5029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2B6CB"/>
                </a:solidFill>
              </a:defRPr>
            </a:lvl1pPr>
          </a:lstStyle>
          <a:p>
            <a:pPr/>
            <a:r>
              <a:t>SÍ →</a:t>
            </a:r>
          </a:p>
        </p:txBody>
      </p:sp>
      <p:sp>
        <p:nvSpPr>
          <p:cNvPr id="142" name="Shape 23"/>
          <p:cNvSpPr/>
          <p:nvPr/>
        </p:nvSpPr>
        <p:spPr>
          <a:xfrm>
            <a:off x="3291840" y="2148839"/>
            <a:ext cx="1371601" cy="420625"/>
          </a:xfrm>
          <a:prstGeom prst="rect">
            <a:avLst/>
          </a:prstGeom>
          <a:solidFill>
            <a:srgbClr val="1E2328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24"/>
          <p:cNvSpPr txBox="1"/>
          <p:nvPr/>
        </p:nvSpPr>
        <p:spPr>
          <a:xfrm>
            <a:off x="3291840" y="2280719"/>
            <a:ext cx="1371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FIN</a:t>
            </a:r>
          </a:p>
        </p:txBody>
      </p:sp>
      <p:sp>
        <p:nvSpPr>
          <p:cNvPr id="144" name="Text 25"/>
          <p:cNvSpPr txBox="1"/>
          <p:nvPr/>
        </p:nvSpPr>
        <p:spPr>
          <a:xfrm>
            <a:off x="1673352" y="2567091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2B6CB"/>
                </a:solidFill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145" name="Shape 26"/>
          <p:cNvSpPr/>
          <p:nvPr/>
        </p:nvSpPr>
        <p:spPr>
          <a:xfrm>
            <a:off x="2606039" y="4105655"/>
            <a:ext cx="3520442" cy="1"/>
          </a:xfrm>
          <a:prstGeom prst="line">
            <a:avLst/>
          </a:prstGeom>
          <a:ln w="1905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27"/>
          <p:cNvSpPr/>
          <p:nvPr/>
        </p:nvSpPr>
        <p:spPr>
          <a:xfrm>
            <a:off x="6126479" y="3895344"/>
            <a:ext cx="877825" cy="76809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8"/>
          <p:cNvSpPr txBox="1"/>
          <p:nvPr/>
        </p:nvSpPr>
        <p:spPr>
          <a:xfrm>
            <a:off x="6126479" y="4128306"/>
            <a:ext cx="87782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Gana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Jugador</a:t>
            </a:r>
          </a:p>
        </p:txBody>
      </p:sp>
      <p:sp>
        <p:nvSpPr>
          <p:cNvPr id="148" name="Shape 29"/>
          <p:cNvSpPr/>
          <p:nvPr/>
        </p:nvSpPr>
        <p:spPr>
          <a:xfrm>
            <a:off x="7132319" y="3895344"/>
            <a:ext cx="877825" cy="768097"/>
          </a:xfrm>
          <a:prstGeom prst="rect">
            <a:avLst/>
          </a:prstGeom>
          <a:solidFill>
            <a:srgbClr val="5A6A7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30"/>
          <p:cNvSpPr txBox="1"/>
          <p:nvPr/>
        </p:nvSpPr>
        <p:spPr>
          <a:xfrm>
            <a:off x="7132319" y="4210856"/>
            <a:ext cx="87782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Empate</a:t>
            </a:r>
          </a:p>
        </p:txBody>
      </p:sp>
      <p:sp>
        <p:nvSpPr>
          <p:cNvPr id="150" name="Shape 31"/>
          <p:cNvSpPr/>
          <p:nvPr/>
        </p:nvSpPr>
        <p:spPr>
          <a:xfrm>
            <a:off x="8138159" y="3895344"/>
            <a:ext cx="877825" cy="768097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32"/>
          <p:cNvSpPr txBox="1"/>
          <p:nvPr/>
        </p:nvSpPr>
        <p:spPr>
          <a:xfrm>
            <a:off x="8138159" y="4128306"/>
            <a:ext cx="87782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Gana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PC</a:t>
            </a:r>
          </a:p>
        </p:txBody>
      </p:sp>
      <p:sp>
        <p:nvSpPr>
          <p:cNvPr id="152" name="Text 33"/>
          <p:cNvSpPr txBox="1"/>
          <p:nvPr/>
        </p:nvSpPr>
        <p:spPr>
          <a:xfrm>
            <a:off x="2743199" y="4684130"/>
            <a:ext cx="1371601" cy="23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2B6CB"/>
                </a:solidFill>
              </a:defRPr>
            </a:lvl1pPr>
          </a:lstStyle>
          <a:p>
            <a:pPr/>
            <a:r>
              <a:t>↺ Repetir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Conceptos de las 4 Unidades Aplicados</a:t>
            </a:r>
          </a:p>
        </p:txBody>
      </p:sp>
      <p:sp>
        <p:nvSpPr>
          <p:cNvPr id="156" name="Shape 2"/>
          <p:cNvSpPr/>
          <p:nvPr/>
        </p:nvSpPr>
        <p:spPr>
          <a:xfrm>
            <a:off x="502919" y="1051560"/>
            <a:ext cx="2560322" cy="1188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Shape 3"/>
          <p:cNvSpPr/>
          <p:nvPr/>
        </p:nvSpPr>
        <p:spPr>
          <a:xfrm>
            <a:off x="502919" y="1051560"/>
            <a:ext cx="64009" cy="1188721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4"/>
          <p:cNvSpPr txBox="1"/>
          <p:nvPr/>
        </p:nvSpPr>
        <p:spPr>
          <a:xfrm>
            <a:off x="685800" y="1226819"/>
            <a:ext cx="45720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📦</a:t>
            </a:r>
          </a:p>
        </p:txBody>
      </p:sp>
      <p:sp>
        <p:nvSpPr>
          <p:cNvPr id="159" name="Text 5"/>
          <p:cNvSpPr txBox="1"/>
          <p:nvPr/>
        </p:nvSpPr>
        <p:spPr>
          <a:xfrm>
            <a:off x="1261872" y="1426517"/>
            <a:ext cx="166420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2328"/>
                </a:solidFill>
              </a:defRPr>
            </a:pPr>
            <a:r>
              <a:t>Variables y</a:t>
            </a:r>
          </a:p>
          <a:p>
            <a:pPr>
              <a:defRPr b="1" sz="1200">
                <a:solidFill>
                  <a:srgbClr val="1E2328"/>
                </a:solidFill>
              </a:defRPr>
            </a:pPr>
            <a:r>
              <a:t>Tipos de Datos</a:t>
            </a:r>
          </a:p>
        </p:txBody>
      </p:sp>
      <p:sp>
        <p:nvSpPr>
          <p:cNvPr id="160" name="Shape 6"/>
          <p:cNvSpPr/>
          <p:nvPr/>
        </p:nvSpPr>
        <p:spPr>
          <a:xfrm>
            <a:off x="3200400" y="1051560"/>
            <a:ext cx="2560321" cy="1188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Shape 7"/>
          <p:cNvSpPr/>
          <p:nvPr/>
        </p:nvSpPr>
        <p:spPr>
          <a:xfrm>
            <a:off x="3200400" y="1051560"/>
            <a:ext cx="64008" cy="1188721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8"/>
          <p:cNvSpPr txBox="1"/>
          <p:nvPr/>
        </p:nvSpPr>
        <p:spPr>
          <a:xfrm>
            <a:off x="3383279" y="1226819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📋</a:t>
            </a:r>
          </a:p>
        </p:txBody>
      </p:sp>
      <p:sp>
        <p:nvSpPr>
          <p:cNvPr id="163" name="Text 9"/>
          <p:cNvSpPr txBox="1"/>
          <p:nvPr/>
        </p:nvSpPr>
        <p:spPr>
          <a:xfrm>
            <a:off x="3959352" y="1521767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Listas</a:t>
            </a:r>
          </a:p>
        </p:txBody>
      </p:sp>
      <p:sp>
        <p:nvSpPr>
          <p:cNvPr id="164" name="Shape 10"/>
          <p:cNvSpPr/>
          <p:nvPr/>
        </p:nvSpPr>
        <p:spPr>
          <a:xfrm>
            <a:off x="5897879" y="1051560"/>
            <a:ext cx="2560321" cy="1188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Shape 11"/>
          <p:cNvSpPr/>
          <p:nvPr/>
        </p:nvSpPr>
        <p:spPr>
          <a:xfrm>
            <a:off x="5897879" y="1051560"/>
            <a:ext cx="64009" cy="1188721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2"/>
          <p:cNvSpPr txBox="1"/>
          <p:nvPr/>
        </p:nvSpPr>
        <p:spPr>
          <a:xfrm>
            <a:off x="6080760" y="1226819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🔗</a:t>
            </a:r>
          </a:p>
        </p:txBody>
      </p:sp>
      <p:sp>
        <p:nvSpPr>
          <p:cNvPr id="167" name="Text 13"/>
          <p:cNvSpPr txBox="1"/>
          <p:nvPr/>
        </p:nvSpPr>
        <p:spPr>
          <a:xfrm>
            <a:off x="6656831" y="1521767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Tuplas</a:t>
            </a:r>
          </a:p>
        </p:txBody>
      </p:sp>
      <p:sp>
        <p:nvSpPr>
          <p:cNvPr id="168" name="Shape 14"/>
          <p:cNvSpPr/>
          <p:nvPr/>
        </p:nvSpPr>
        <p:spPr>
          <a:xfrm>
            <a:off x="502919" y="2404872"/>
            <a:ext cx="256032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Shape 15"/>
          <p:cNvSpPr/>
          <p:nvPr/>
        </p:nvSpPr>
        <p:spPr>
          <a:xfrm>
            <a:off x="502919" y="2404872"/>
            <a:ext cx="64009" cy="1188720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6"/>
          <p:cNvSpPr txBox="1"/>
          <p:nvPr/>
        </p:nvSpPr>
        <p:spPr>
          <a:xfrm>
            <a:off x="685800" y="2580132"/>
            <a:ext cx="45720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🔀</a:t>
            </a:r>
          </a:p>
        </p:txBody>
      </p:sp>
      <p:sp>
        <p:nvSpPr>
          <p:cNvPr id="171" name="Text 17"/>
          <p:cNvSpPr txBox="1"/>
          <p:nvPr/>
        </p:nvSpPr>
        <p:spPr>
          <a:xfrm>
            <a:off x="1261872" y="2779829"/>
            <a:ext cx="166420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2328"/>
                </a:solidFill>
              </a:defRPr>
            </a:pPr>
            <a:r>
              <a:t>Condicionales</a:t>
            </a:r>
          </a:p>
          <a:p>
            <a:pPr>
              <a:defRPr b="1" sz="1200">
                <a:solidFill>
                  <a:srgbClr val="1E2328"/>
                </a:solidFill>
              </a:defRPr>
            </a:pPr>
            <a:r>
              <a:t>if / elif / else</a:t>
            </a:r>
          </a:p>
        </p:txBody>
      </p:sp>
      <p:sp>
        <p:nvSpPr>
          <p:cNvPr id="172" name="Shape 18"/>
          <p:cNvSpPr/>
          <p:nvPr/>
        </p:nvSpPr>
        <p:spPr>
          <a:xfrm>
            <a:off x="3200400" y="2404872"/>
            <a:ext cx="2560321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" name="Shape 19"/>
          <p:cNvSpPr/>
          <p:nvPr/>
        </p:nvSpPr>
        <p:spPr>
          <a:xfrm>
            <a:off x="3200400" y="2404872"/>
            <a:ext cx="64008" cy="1188720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20"/>
          <p:cNvSpPr txBox="1"/>
          <p:nvPr/>
        </p:nvSpPr>
        <p:spPr>
          <a:xfrm>
            <a:off x="3383279" y="2580132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⚙️</a:t>
            </a:r>
          </a:p>
        </p:txBody>
      </p:sp>
      <p:sp>
        <p:nvSpPr>
          <p:cNvPr id="175" name="Text 21"/>
          <p:cNvSpPr txBox="1"/>
          <p:nvPr/>
        </p:nvSpPr>
        <p:spPr>
          <a:xfrm>
            <a:off x="3959352" y="2779829"/>
            <a:ext cx="166420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2328"/>
                </a:solidFill>
              </a:defRPr>
            </a:pPr>
            <a:r>
              <a:t>Operadores</a:t>
            </a:r>
          </a:p>
          <a:p>
            <a:pPr>
              <a:defRPr b="1" sz="1200">
                <a:solidFill>
                  <a:srgbClr val="1E2328"/>
                </a:solidFill>
              </a:defRPr>
            </a:pPr>
            <a:r>
              <a:t>Lógicos</a:t>
            </a:r>
          </a:p>
        </p:txBody>
      </p:sp>
      <p:sp>
        <p:nvSpPr>
          <p:cNvPr id="176" name="Shape 22"/>
          <p:cNvSpPr/>
          <p:nvPr/>
        </p:nvSpPr>
        <p:spPr>
          <a:xfrm>
            <a:off x="5897879" y="2404872"/>
            <a:ext cx="2560321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Shape 23"/>
          <p:cNvSpPr/>
          <p:nvPr/>
        </p:nvSpPr>
        <p:spPr>
          <a:xfrm>
            <a:off x="5897879" y="2404872"/>
            <a:ext cx="64009" cy="1188720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4"/>
          <p:cNvSpPr txBox="1"/>
          <p:nvPr/>
        </p:nvSpPr>
        <p:spPr>
          <a:xfrm>
            <a:off x="6080760" y="2580132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🔁</a:t>
            </a:r>
          </a:p>
        </p:txBody>
      </p:sp>
      <p:sp>
        <p:nvSpPr>
          <p:cNvPr id="179" name="Text 25"/>
          <p:cNvSpPr txBox="1"/>
          <p:nvPr/>
        </p:nvSpPr>
        <p:spPr>
          <a:xfrm>
            <a:off x="6656831" y="2779829"/>
            <a:ext cx="166420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2328"/>
                </a:solidFill>
              </a:defRPr>
            </a:pPr>
            <a:r>
              <a:t>Bucles</a:t>
            </a:r>
          </a:p>
          <a:p>
            <a:pPr>
              <a:defRPr b="1" sz="1200">
                <a:solidFill>
                  <a:srgbClr val="1E2328"/>
                </a:solidFill>
              </a:defRPr>
            </a:pPr>
            <a:r>
              <a:t>while &amp; for</a:t>
            </a:r>
          </a:p>
        </p:txBody>
      </p:sp>
      <p:sp>
        <p:nvSpPr>
          <p:cNvPr id="180" name="Shape 26"/>
          <p:cNvSpPr/>
          <p:nvPr/>
        </p:nvSpPr>
        <p:spPr>
          <a:xfrm>
            <a:off x="502919" y="3758184"/>
            <a:ext cx="2560322" cy="1188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" name="Shape 27"/>
          <p:cNvSpPr/>
          <p:nvPr/>
        </p:nvSpPr>
        <p:spPr>
          <a:xfrm>
            <a:off x="502919" y="3758184"/>
            <a:ext cx="64009" cy="1188721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28"/>
          <p:cNvSpPr txBox="1"/>
          <p:nvPr/>
        </p:nvSpPr>
        <p:spPr>
          <a:xfrm>
            <a:off x="685800" y="3933444"/>
            <a:ext cx="45720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183" name="Text 29"/>
          <p:cNvSpPr txBox="1"/>
          <p:nvPr/>
        </p:nvSpPr>
        <p:spPr>
          <a:xfrm>
            <a:off x="1261872" y="4133141"/>
            <a:ext cx="166420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2328"/>
                </a:solidFill>
              </a:defRPr>
            </a:pPr>
            <a:r>
              <a:t>Validación</a:t>
            </a:r>
          </a:p>
          <a:p>
            <a:pPr>
              <a:defRPr b="1" sz="1200">
                <a:solidFill>
                  <a:srgbClr val="1E2328"/>
                </a:solidFill>
              </a:defRPr>
            </a:pPr>
            <a:r>
              <a:t>de Datos</a:t>
            </a:r>
          </a:p>
        </p:txBody>
      </p:sp>
      <p:sp>
        <p:nvSpPr>
          <p:cNvPr id="184" name="Shape 30"/>
          <p:cNvSpPr/>
          <p:nvPr/>
        </p:nvSpPr>
        <p:spPr>
          <a:xfrm>
            <a:off x="3200400" y="3758184"/>
            <a:ext cx="2560321" cy="1188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Shape 31"/>
          <p:cNvSpPr/>
          <p:nvPr/>
        </p:nvSpPr>
        <p:spPr>
          <a:xfrm>
            <a:off x="3200400" y="3758184"/>
            <a:ext cx="64008" cy="1188721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32"/>
          <p:cNvSpPr txBox="1"/>
          <p:nvPr/>
        </p:nvSpPr>
        <p:spPr>
          <a:xfrm>
            <a:off x="3383279" y="3933444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🎲</a:t>
            </a:r>
          </a:p>
        </p:txBody>
      </p:sp>
      <p:sp>
        <p:nvSpPr>
          <p:cNvPr id="187" name="Text 33"/>
          <p:cNvSpPr txBox="1"/>
          <p:nvPr/>
        </p:nvSpPr>
        <p:spPr>
          <a:xfrm>
            <a:off x="3959352" y="4133141"/>
            <a:ext cx="166420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2328"/>
                </a:solidFill>
              </a:defRPr>
            </a:pPr>
            <a:r>
              <a:t>Módulo</a:t>
            </a:r>
          </a:p>
          <a:p>
            <a:pPr>
              <a:defRPr b="1" sz="1200">
                <a:solidFill>
                  <a:srgbClr val="1E2328"/>
                </a:solidFill>
              </a:defRPr>
            </a:pPr>
            <a:r>
              <a:t>random</a:t>
            </a:r>
          </a:p>
        </p:txBody>
      </p:sp>
      <p:sp>
        <p:nvSpPr>
          <p:cNvPr id="188" name="Shape 34"/>
          <p:cNvSpPr/>
          <p:nvPr/>
        </p:nvSpPr>
        <p:spPr>
          <a:xfrm>
            <a:off x="5897879" y="3758184"/>
            <a:ext cx="2560321" cy="1188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Shape 35"/>
          <p:cNvSpPr/>
          <p:nvPr/>
        </p:nvSpPr>
        <p:spPr>
          <a:xfrm>
            <a:off x="5897879" y="3758184"/>
            <a:ext cx="64009" cy="1188721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36"/>
          <p:cNvSpPr txBox="1"/>
          <p:nvPr/>
        </p:nvSpPr>
        <p:spPr>
          <a:xfrm>
            <a:off x="6080760" y="3933444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➕</a:t>
            </a:r>
          </a:p>
        </p:txBody>
      </p:sp>
      <p:sp>
        <p:nvSpPr>
          <p:cNvPr id="191" name="Text 37"/>
          <p:cNvSpPr txBox="1"/>
          <p:nvPr/>
        </p:nvSpPr>
        <p:spPr>
          <a:xfrm>
            <a:off x="6656831" y="4228391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Acumuladores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Demostración del Código</a:t>
            </a:r>
          </a:p>
        </p:txBody>
      </p:sp>
      <p:sp>
        <p:nvSpPr>
          <p:cNvPr id="195" name="Shape 2"/>
          <p:cNvSpPr/>
          <p:nvPr/>
        </p:nvSpPr>
        <p:spPr>
          <a:xfrm>
            <a:off x="365759" y="1005839"/>
            <a:ext cx="8412482" cy="384048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3"/>
          <p:cNvSpPr/>
          <p:nvPr/>
        </p:nvSpPr>
        <p:spPr>
          <a:xfrm>
            <a:off x="365759" y="1005839"/>
            <a:ext cx="8412482" cy="347473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4"/>
          <p:cNvSpPr txBox="1"/>
          <p:nvPr/>
        </p:nvSpPr>
        <p:spPr>
          <a:xfrm>
            <a:off x="548639" y="1060450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piedra_papel_tijera.py</a:t>
            </a:r>
          </a:p>
        </p:txBody>
      </p:sp>
      <p:sp>
        <p:nvSpPr>
          <p:cNvPr id="198" name="Text 5"/>
          <p:cNvSpPr txBox="1"/>
          <p:nvPr/>
        </p:nvSpPr>
        <p:spPr>
          <a:xfrm>
            <a:off x="7818119" y="1048320"/>
            <a:ext cx="822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400">
                <a:solidFill>
                  <a:srgbClr val="8B949E"/>
                </a:solidFill>
              </a:defRPr>
            </a:lvl1pPr>
          </a:lstStyle>
          <a:p>
            <a:pPr/>
            <a:r>
              <a:t>● ● ●</a:t>
            </a:r>
          </a:p>
        </p:txBody>
      </p:sp>
      <p:sp>
        <p:nvSpPr>
          <p:cNvPr id="199" name="Text 6"/>
          <p:cNvSpPr txBox="1"/>
          <p:nvPr/>
        </p:nvSpPr>
        <p:spPr>
          <a:xfrm>
            <a:off x="548639" y="1417319"/>
            <a:ext cx="8138161" cy="388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</a:t>
            </a:r>
            <a:r>
              <a:rPr b="0">
                <a:solidFill>
                  <a:srgbClr val="79C0FF"/>
                </a:solidFill>
              </a:rPr>
              <a:t> random</a:t>
            </a:r>
            <a:endParaRPr b="0">
              <a:solidFill>
                <a:srgbClr val="79C0FF"/>
              </a:solidFill>
            </a:endParaR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b="0">
              <a:solidFill>
                <a:srgbClr val="79C0FF"/>
              </a:solidFill>
            </a:endParaR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E6EDF3"/>
                </a:solidFill>
              </a:rPr>
              <a:t>opciones </a:t>
            </a:r>
            <a:r>
              <a:rPr b="0"/>
              <a:t>=</a:t>
            </a:r>
            <a:r>
              <a:rPr b="0">
                <a:solidFill>
                  <a:srgbClr val="A5D6FF"/>
                </a:solidFill>
              </a:rPr>
              <a:t> ("piedra", "papel", "tijera")</a:t>
            </a:r>
            <a:endParaRPr b="0">
              <a:solidFill>
                <a:srgbClr val="A5D6FF"/>
              </a:solidFill>
            </a:endParaR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E6EDF3"/>
                </a:solidFill>
              </a:rPr>
              <a:t>marcador </a:t>
            </a:r>
            <a:r>
              <a:rPr b="0"/>
              <a:t>=</a:t>
            </a:r>
            <a:r>
              <a:rPr b="0">
                <a:solidFill>
                  <a:srgbClr val="A5D6FF"/>
                </a:solidFill>
              </a:rPr>
              <a:t> {"jugador": 0, "pc": 0, "empates": 0}</a:t>
            </a:r>
            <a:endParaRPr b="0">
              <a:solidFill>
                <a:srgbClr val="A5D6FF"/>
              </a:solidFill>
            </a:endParaR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b="0">
                <a:solidFill>
                  <a:srgbClr val="E6EDF3"/>
                </a:solidFill>
              </a:rPr>
              <a:t>historial </a:t>
            </a:r>
            <a:r>
              <a:rPr b="0"/>
              <a:t>=</a:t>
            </a:r>
            <a:r>
              <a:rPr b="0">
                <a:solidFill>
                  <a:srgbClr val="A5D6FF"/>
                </a:solidFill>
              </a:rPr>
              <a:t> []</a:t>
            </a:r>
            <a:endParaRPr b="0">
              <a:solidFill>
                <a:srgbClr val="A5D6FF"/>
              </a:solidFill>
            </a:endParaR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b="0">
              <a:solidFill>
                <a:srgbClr val="A5D6FF"/>
              </a:solidFill>
            </a:endParaR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while</a:t>
            </a:r>
            <a:r>
              <a:rPr b="0">
                <a:solidFill>
                  <a:srgbClr val="E6EDF3"/>
                </a:solidFill>
              </a:rPr>
              <a:t> True:</a:t>
            </a:r>
          </a:p>
          <a:p>
            <a:pPr>
              <a:defRPr sz="11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eleccion_pc </a:t>
            </a:r>
          </a:p>
          <a:p>
            <a:pPr>
              <a:defRPr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=</a:t>
            </a:r>
            <a:r>
              <a:rPr>
                <a:solidFill>
                  <a:srgbClr val="E6EDF3"/>
                </a:solidFill>
              </a:rPr>
              <a:t> random.</a:t>
            </a:r>
            <a:r>
              <a:rPr>
                <a:solidFill>
                  <a:srgbClr val="D2A8FF"/>
                </a:solidFill>
              </a:rPr>
              <a:t>choice</a:t>
            </a:r>
            <a:r>
              <a:rPr>
                <a:solidFill>
                  <a:srgbClr val="E6EDF3"/>
                </a:solidFill>
              </a:rPr>
              <a:t>(opciones)</a:t>
            </a:r>
          </a:p>
          <a:p>
            <a:pPr>
              <a:defRPr sz="11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eleccion_usuario </a:t>
            </a:r>
          </a:p>
          <a:p>
            <a:pPr>
              <a:defRPr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=</a:t>
            </a:r>
            <a:r>
              <a:rPr>
                <a:solidFill>
                  <a:srgbClr val="E6EDF3"/>
                </a:solidFill>
              </a:rPr>
              <a:t> input(</a:t>
            </a:r>
            <a:r>
              <a:rPr>
                <a:solidFill>
                  <a:srgbClr val="A5D6FF"/>
                </a:solidFill>
              </a:rPr>
              <a:t>"Elige (piedra/papel/tijera): "</a:t>
            </a:r>
            <a:r>
              <a:rPr>
                <a:solidFill>
                  <a:srgbClr val="E6EDF3"/>
                </a:solidFill>
              </a:rPr>
              <a:t>).lower()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</a:t>
            </a: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if</a:t>
            </a:r>
            <a:r>
              <a:rPr b="0">
                <a:solidFill>
                  <a:srgbClr val="E6EDF3"/>
                </a:solidFill>
              </a:rPr>
              <a:t> eleccion_usuario </a:t>
            </a:r>
            <a:r>
              <a:t>not in</a:t>
            </a:r>
            <a:r>
              <a:rPr b="0">
                <a:solidFill>
                  <a:srgbClr val="E6EDF3"/>
                </a:solidFill>
              </a:rPr>
              <a:t> opciones:</a:t>
            </a:r>
          </a:p>
          <a:p>
            <a:pPr>
              <a:defRPr sz="11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</a:t>
            </a:r>
          </a:p>
          <a:p>
            <a:pPr>
              <a:defRPr sz="110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</a:t>
            </a:r>
            <a:r>
              <a:rPr>
                <a:solidFill>
                  <a:srgbClr val="A5D6FF"/>
                </a:solidFill>
              </a:rPr>
              <a:t>("Opción inválida"); </a:t>
            </a:r>
            <a:r>
              <a:rPr b="1">
                <a:solidFill>
                  <a:srgbClr val="FF7B72"/>
                </a:solidFill>
              </a:rPr>
              <a:t>continue</a:t>
            </a:r>
          </a:p>
          <a:p>
            <a:pPr>
              <a:defRPr sz="1100"/>
            </a:pP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</a:t>
            </a:r>
          </a:p>
          <a:p>
            <a:pPr>
              <a:defRPr b="1" sz="110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if</a:t>
            </a:r>
            <a:r>
              <a:rPr b="0">
                <a:solidFill>
                  <a:srgbClr val="E6EDF3"/>
                </a:solidFill>
              </a:rPr>
              <a:t> eleccion_usuario </a:t>
            </a:r>
            <a:r>
              <a:rPr b="0"/>
              <a:t>==</a:t>
            </a:r>
            <a:r>
              <a:rPr b="0">
                <a:solidFill>
                  <a:srgbClr val="E6EDF3"/>
                </a:solidFill>
              </a:rPr>
              <a:t> eleccion_pc:</a:t>
            </a:r>
          </a:p>
          <a:p>
            <a:pPr>
              <a:defRPr sz="11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marcador[</a:t>
            </a:r>
          </a:p>
          <a:p>
            <a:pPr>
              <a:defRPr sz="110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"empates"</a:t>
            </a:r>
            <a:r>
              <a:rPr>
                <a:solidFill>
                  <a:srgbClr val="E6EDF3"/>
                </a:solidFill>
              </a:rPr>
              <a:t>] </a:t>
            </a:r>
            <a:r>
              <a:rPr>
                <a:solidFill>
                  <a:srgbClr val="FF7B72"/>
                </a:solidFill>
              </a:rPr>
              <a:t>+=</a:t>
            </a:r>
            <a:r>
              <a:rPr>
                <a:solidFill>
                  <a:srgbClr val="E6EDF3"/>
                </a:solidFill>
              </a:rPr>
              <a:t> 1</a:t>
            </a:r>
          </a:p>
          <a:p>
            <a:pPr>
              <a:defRPr sz="11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historial.</a:t>
            </a:r>
          </a:p>
          <a:p>
            <a:pPr>
              <a:defRPr sz="110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append</a:t>
            </a:r>
            <a:r>
              <a:rPr>
                <a:solidFill>
                  <a:srgbClr val="A5D6FF"/>
                </a:solidFill>
              </a:rPr>
              <a:t>("Empate")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Funcionalidades Principales</a:t>
            </a:r>
          </a:p>
        </p:txBody>
      </p:sp>
      <p:sp>
        <p:nvSpPr>
          <p:cNvPr id="203" name="Shape 2"/>
          <p:cNvSpPr/>
          <p:nvPr/>
        </p:nvSpPr>
        <p:spPr>
          <a:xfrm>
            <a:off x="365759" y="1005839"/>
            <a:ext cx="4160522" cy="10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Shape 3"/>
          <p:cNvSpPr/>
          <p:nvPr/>
        </p:nvSpPr>
        <p:spPr>
          <a:xfrm>
            <a:off x="365759" y="1005839"/>
            <a:ext cx="502921" cy="1097281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4"/>
          <p:cNvSpPr txBox="1"/>
          <p:nvPr/>
        </p:nvSpPr>
        <p:spPr>
          <a:xfrm>
            <a:off x="365759" y="1430109"/>
            <a:ext cx="5029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2B6CB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6" name="Text 5"/>
          <p:cNvSpPr txBox="1"/>
          <p:nvPr/>
        </p:nvSpPr>
        <p:spPr>
          <a:xfrm>
            <a:off x="960119" y="1192583"/>
            <a:ext cx="34747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Selección del Jugador</a:t>
            </a:r>
          </a:p>
        </p:txBody>
      </p:sp>
      <p:sp>
        <p:nvSpPr>
          <p:cNvPr id="207" name="Text 6"/>
          <p:cNvSpPr txBox="1"/>
          <p:nvPr/>
        </p:nvSpPr>
        <p:spPr>
          <a:xfrm>
            <a:off x="960119" y="1596820"/>
            <a:ext cx="34747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Ingresa su elección por teclado con validación de entrada usando .lower() y el operador in.</a:t>
            </a:r>
          </a:p>
        </p:txBody>
      </p:sp>
      <p:sp>
        <p:nvSpPr>
          <p:cNvPr id="208" name="Shape 7"/>
          <p:cNvSpPr/>
          <p:nvPr/>
        </p:nvSpPr>
        <p:spPr>
          <a:xfrm>
            <a:off x="4800600" y="1005839"/>
            <a:ext cx="4160521" cy="10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Shape 8"/>
          <p:cNvSpPr/>
          <p:nvPr/>
        </p:nvSpPr>
        <p:spPr>
          <a:xfrm>
            <a:off x="4800600" y="1005839"/>
            <a:ext cx="502920" cy="1097281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9"/>
          <p:cNvSpPr txBox="1"/>
          <p:nvPr/>
        </p:nvSpPr>
        <p:spPr>
          <a:xfrm>
            <a:off x="4800600" y="1430109"/>
            <a:ext cx="50292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2B6CB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1" name="Text 10"/>
          <p:cNvSpPr txBox="1"/>
          <p:nvPr/>
        </p:nvSpPr>
        <p:spPr>
          <a:xfrm>
            <a:off x="5394959" y="1192583"/>
            <a:ext cx="34747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Elección Aleatoria PC</a:t>
            </a:r>
          </a:p>
        </p:txBody>
      </p:sp>
      <p:sp>
        <p:nvSpPr>
          <p:cNvPr id="212" name="Text 11"/>
          <p:cNvSpPr txBox="1"/>
          <p:nvPr/>
        </p:nvSpPr>
        <p:spPr>
          <a:xfrm>
            <a:off x="5394959" y="1596820"/>
            <a:ext cx="34747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La computadora elige con random.choice() sobre la tupla de opciones, sin patrón predecible.</a:t>
            </a:r>
          </a:p>
        </p:txBody>
      </p:sp>
      <p:sp>
        <p:nvSpPr>
          <p:cNvPr id="213" name="Shape 12"/>
          <p:cNvSpPr/>
          <p:nvPr/>
        </p:nvSpPr>
        <p:spPr>
          <a:xfrm>
            <a:off x="365759" y="2286000"/>
            <a:ext cx="4160522" cy="10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" name="Shape 13"/>
          <p:cNvSpPr/>
          <p:nvPr/>
        </p:nvSpPr>
        <p:spPr>
          <a:xfrm>
            <a:off x="365759" y="2286000"/>
            <a:ext cx="502921" cy="1097281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14"/>
          <p:cNvSpPr txBox="1"/>
          <p:nvPr/>
        </p:nvSpPr>
        <p:spPr>
          <a:xfrm>
            <a:off x="365759" y="2710269"/>
            <a:ext cx="5029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2B6C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6" name="Text 15"/>
          <p:cNvSpPr txBox="1"/>
          <p:nvPr/>
        </p:nvSpPr>
        <p:spPr>
          <a:xfrm>
            <a:off x="960119" y="2472743"/>
            <a:ext cx="34747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Comparación y Resultado</a:t>
            </a:r>
          </a:p>
        </p:txBody>
      </p:sp>
      <p:sp>
        <p:nvSpPr>
          <p:cNvPr id="217" name="Text 16"/>
          <p:cNvSpPr txBox="1"/>
          <p:nvPr/>
        </p:nvSpPr>
        <p:spPr>
          <a:xfrm>
            <a:off x="960119" y="2876980"/>
            <a:ext cx="34747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Estructura if-elif-else compara las jugadas usando una lista de tuplas ganadoras.</a:t>
            </a:r>
          </a:p>
        </p:txBody>
      </p:sp>
      <p:sp>
        <p:nvSpPr>
          <p:cNvPr id="218" name="Shape 17"/>
          <p:cNvSpPr/>
          <p:nvPr/>
        </p:nvSpPr>
        <p:spPr>
          <a:xfrm>
            <a:off x="4800600" y="2286000"/>
            <a:ext cx="4160521" cy="10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" name="Shape 18"/>
          <p:cNvSpPr/>
          <p:nvPr/>
        </p:nvSpPr>
        <p:spPr>
          <a:xfrm>
            <a:off x="4800600" y="2286000"/>
            <a:ext cx="502920" cy="1097281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9"/>
          <p:cNvSpPr txBox="1"/>
          <p:nvPr/>
        </p:nvSpPr>
        <p:spPr>
          <a:xfrm>
            <a:off x="4800600" y="2710269"/>
            <a:ext cx="50292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2B6CB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21" name="Text 20"/>
          <p:cNvSpPr txBox="1"/>
          <p:nvPr/>
        </p:nvSpPr>
        <p:spPr>
          <a:xfrm>
            <a:off x="5394959" y="2472743"/>
            <a:ext cx="34747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Marcador Acumulativo</a:t>
            </a:r>
          </a:p>
        </p:txBody>
      </p:sp>
      <p:sp>
        <p:nvSpPr>
          <p:cNvPr id="222" name="Text 21"/>
          <p:cNvSpPr txBox="1"/>
          <p:nvPr/>
        </p:nvSpPr>
        <p:spPr>
          <a:xfrm>
            <a:off x="5394959" y="2876980"/>
            <a:ext cx="34747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Diccionario marcador guarda puntajes de jugador, PC y empates durante toda la sesión.</a:t>
            </a:r>
          </a:p>
        </p:txBody>
      </p:sp>
      <p:sp>
        <p:nvSpPr>
          <p:cNvPr id="223" name="Shape 22"/>
          <p:cNvSpPr/>
          <p:nvPr/>
        </p:nvSpPr>
        <p:spPr>
          <a:xfrm>
            <a:off x="365759" y="3566159"/>
            <a:ext cx="4160522" cy="10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Shape 23"/>
          <p:cNvSpPr/>
          <p:nvPr/>
        </p:nvSpPr>
        <p:spPr>
          <a:xfrm>
            <a:off x="365759" y="3566159"/>
            <a:ext cx="502921" cy="1097281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24"/>
          <p:cNvSpPr txBox="1"/>
          <p:nvPr/>
        </p:nvSpPr>
        <p:spPr>
          <a:xfrm>
            <a:off x="365759" y="3990429"/>
            <a:ext cx="5029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2B6CB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6" name="Text 25"/>
          <p:cNvSpPr txBox="1"/>
          <p:nvPr/>
        </p:nvSpPr>
        <p:spPr>
          <a:xfrm>
            <a:off x="960119" y="3752903"/>
            <a:ext cx="34747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Historial de Partidas</a:t>
            </a:r>
          </a:p>
        </p:txBody>
      </p:sp>
      <p:sp>
        <p:nvSpPr>
          <p:cNvPr id="227" name="Text 26"/>
          <p:cNvSpPr txBox="1"/>
          <p:nvPr/>
        </p:nvSpPr>
        <p:spPr>
          <a:xfrm>
            <a:off x="960119" y="4157140"/>
            <a:ext cx="34747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Lista historial registra con .append() el resultado de cada ronda para consulta.</a:t>
            </a:r>
          </a:p>
        </p:txBody>
      </p:sp>
      <p:sp>
        <p:nvSpPr>
          <p:cNvPr id="228" name="Shape 27"/>
          <p:cNvSpPr/>
          <p:nvPr/>
        </p:nvSpPr>
        <p:spPr>
          <a:xfrm>
            <a:off x="4800600" y="3566159"/>
            <a:ext cx="4160521" cy="10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3"/>
            </a:solidFill>
          </a:ln>
          <a:effectLst>
            <a:outerShdw sx="100000" sy="100000" kx="0" ky="0" algn="b" rotWithShape="0" blurRad="1016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" name="Shape 28"/>
          <p:cNvSpPr/>
          <p:nvPr/>
        </p:nvSpPr>
        <p:spPr>
          <a:xfrm>
            <a:off x="4800600" y="3566159"/>
            <a:ext cx="502920" cy="1097281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9"/>
          <p:cNvSpPr txBox="1"/>
          <p:nvPr/>
        </p:nvSpPr>
        <p:spPr>
          <a:xfrm>
            <a:off x="4800600" y="3990429"/>
            <a:ext cx="50292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2B6CB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1" name="Text 30"/>
          <p:cNvSpPr txBox="1"/>
          <p:nvPr/>
        </p:nvSpPr>
        <p:spPr>
          <a:xfrm>
            <a:off x="5394959" y="3752903"/>
            <a:ext cx="34747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328"/>
                </a:solidFill>
              </a:defRPr>
            </a:lvl1pPr>
          </a:lstStyle>
          <a:p>
            <a:pPr/>
            <a:r>
              <a:t>Repetición Controlada</a:t>
            </a:r>
          </a:p>
        </p:txBody>
      </p:sp>
      <p:sp>
        <p:nvSpPr>
          <p:cNvPr id="232" name="Text 31"/>
          <p:cNvSpPr txBox="1"/>
          <p:nvPr/>
        </p:nvSpPr>
        <p:spPr>
          <a:xfrm>
            <a:off x="5394959" y="4157140"/>
            <a:ext cx="34747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BB0"/>
                </a:solidFill>
              </a:defRPr>
            </a:lvl1pPr>
          </a:lstStyle>
          <a:p>
            <a:pPr/>
            <a:r>
              <a:t>Bucle while True repite el juego; el usuario elige salir desde el menú principal.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Ejecución del Programa en Terminal</a:t>
            </a:r>
          </a:p>
        </p:txBody>
      </p:sp>
      <p:sp>
        <p:nvSpPr>
          <p:cNvPr id="236" name="Shape 2"/>
          <p:cNvSpPr/>
          <p:nvPr/>
        </p:nvSpPr>
        <p:spPr>
          <a:xfrm>
            <a:off x="365759" y="1051560"/>
            <a:ext cx="4206242" cy="713233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hape 3"/>
          <p:cNvSpPr/>
          <p:nvPr/>
        </p:nvSpPr>
        <p:spPr>
          <a:xfrm>
            <a:off x="365759" y="1051560"/>
            <a:ext cx="502921" cy="71323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4"/>
          <p:cNvSpPr txBox="1"/>
          <p:nvPr/>
        </p:nvSpPr>
        <p:spPr>
          <a:xfrm>
            <a:off x="365759" y="1287352"/>
            <a:ext cx="5029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9" name="Text 5"/>
          <p:cNvSpPr txBox="1"/>
          <p:nvPr/>
        </p:nvSpPr>
        <p:spPr>
          <a:xfrm>
            <a:off x="960119" y="1176450"/>
            <a:ext cx="3520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4F5F7"/>
                </a:solidFill>
              </a:defRPr>
            </a:lvl1pPr>
          </a:lstStyle>
          <a:p>
            <a:pPr/>
            <a:r>
              <a:t>Verificar Python 3 instalado</a:t>
            </a:r>
          </a:p>
        </p:txBody>
      </p:sp>
      <p:sp>
        <p:nvSpPr>
          <p:cNvPr id="240" name="Text 6"/>
          <p:cNvSpPr txBox="1"/>
          <p:nvPr/>
        </p:nvSpPr>
        <p:spPr>
          <a:xfrm>
            <a:off x="960119" y="1450848"/>
            <a:ext cx="35204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python --version</a:t>
            </a:r>
          </a:p>
        </p:txBody>
      </p:sp>
      <p:sp>
        <p:nvSpPr>
          <p:cNvPr id="241" name="Shape 7"/>
          <p:cNvSpPr/>
          <p:nvPr/>
        </p:nvSpPr>
        <p:spPr>
          <a:xfrm>
            <a:off x="365759" y="1920239"/>
            <a:ext cx="4206242" cy="713233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8"/>
          <p:cNvSpPr/>
          <p:nvPr/>
        </p:nvSpPr>
        <p:spPr>
          <a:xfrm>
            <a:off x="365759" y="1920239"/>
            <a:ext cx="502921" cy="71323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9"/>
          <p:cNvSpPr txBox="1"/>
          <p:nvPr/>
        </p:nvSpPr>
        <p:spPr>
          <a:xfrm>
            <a:off x="365759" y="2156032"/>
            <a:ext cx="5029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4" name="Text 10"/>
          <p:cNvSpPr txBox="1"/>
          <p:nvPr/>
        </p:nvSpPr>
        <p:spPr>
          <a:xfrm>
            <a:off x="960119" y="2045130"/>
            <a:ext cx="3520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4F5F7"/>
                </a:solidFill>
              </a:defRPr>
            </a:lvl1pPr>
          </a:lstStyle>
          <a:p>
            <a:pPr/>
            <a:r>
              <a:t>Descargar desde GitHub</a:t>
            </a:r>
          </a:p>
        </p:txBody>
      </p:sp>
      <p:sp>
        <p:nvSpPr>
          <p:cNvPr id="245" name="Text 11"/>
          <p:cNvSpPr txBox="1"/>
          <p:nvPr/>
        </p:nvSpPr>
        <p:spPr>
          <a:xfrm>
            <a:off x="960119" y="2319527"/>
            <a:ext cx="35204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 clone github.com/Nath-user007/...</a:t>
            </a:r>
          </a:p>
        </p:txBody>
      </p:sp>
      <p:sp>
        <p:nvSpPr>
          <p:cNvPr id="246" name="Shape 12"/>
          <p:cNvSpPr/>
          <p:nvPr/>
        </p:nvSpPr>
        <p:spPr>
          <a:xfrm>
            <a:off x="365759" y="2788920"/>
            <a:ext cx="4206242" cy="713233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Shape 13"/>
          <p:cNvSpPr/>
          <p:nvPr/>
        </p:nvSpPr>
        <p:spPr>
          <a:xfrm>
            <a:off x="365759" y="2788920"/>
            <a:ext cx="502921" cy="713233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14"/>
          <p:cNvSpPr txBox="1"/>
          <p:nvPr/>
        </p:nvSpPr>
        <p:spPr>
          <a:xfrm>
            <a:off x="365759" y="3024712"/>
            <a:ext cx="5029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9" name="Text 15"/>
          <p:cNvSpPr txBox="1"/>
          <p:nvPr/>
        </p:nvSpPr>
        <p:spPr>
          <a:xfrm>
            <a:off x="960119" y="2913810"/>
            <a:ext cx="3520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4F5F7"/>
                </a:solidFill>
              </a:defRPr>
            </a:lvl1pPr>
          </a:lstStyle>
          <a:p>
            <a:pPr/>
            <a:r>
              <a:t>Ejecutar el programa</a:t>
            </a:r>
          </a:p>
        </p:txBody>
      </p:sp>
      <p:sp>
        <p:nvSpPr>
          <p:cNvPr id="250" name="Text 16"/>
          <p:cNvSpPr txBox="1"/>
          <p:nvPr/>
        </p:nvSpPr>
        <p:spPr>
          <a:xfrm>
            <a:off x="960119" y="3188208"/>
            <a:ext cx="35204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python piedra_papel_tijera.py</a:t>
            </a:r>
          </a:p>
        </p:txBody>
      </p:sp>
      <p:sp>
        <p:nvSpPr>
          <p:cNvPr id="251" name="Shape 17"/>
          <p:cNvSpPr/>
          <p:nvPr/>
        </p:nvSpPr>
        <p:spPr>
          <a:xfrm>
            <a:off x="4846320" y="1005839"/>
            <a:ext cx="3977641" cy="3794761"/>
          </a:xfrm>
          <a:prstGeom prst="rect">
            <a:avLst/>
          </a:prstGeom>
          <a:solidFill>
            <a:srgbClr val="0C0C0C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18"/>
          <p:cNvSpPr/>
          <p:nvPr/>
        </p:nvSpPr>
        <p:spPr>
          <a:xfrm>
            <a:off x="4846320" y="1005839"/>
            <a:ext cx="3977641" cy="365761"/>
          </a:xfrm>
          <a:prstGeom prst="rect">
            <a:avLst/>
          </a:prstGeom>
          <a:solidFill>
            <a:srgbClr val="3C3C3C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19"/>
          <p:cNvSpPr txBox="1"/>
          <p:nvPr/>
        </p:nvSpPr>
        <p:spPr>
          <a:xfrm>
            <a:off x="5029200" y="1057464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5F56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254" name="Text 20"/>
          <p:cNvSpPr txBox="1"/>
          <p:nvPr/>
        </p:nvSpPr>
        <p:spPr>
          <a:xfrm>
            <a:off x="5321808" y="1057464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BD2E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255" name="Text 21"/>
          <p:cNvSpPr txBox="1"/>
          <p:nvPr/>
        </p:nvSpPr>
        <p:spPr>
          <a:xfrm>
            <a:off x="5614416" y="1057464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27C93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256" name="Text 22"/>
          <p:cNvSpPr txBox="1"/>
          <p:nvPr/>
        </p:nvSpPr>
        <p:spPr>
          <a:xfrm>
            <a:off x="6446520" y="1069593"/>
            <a:ext cx="2194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Terminal</a:t>
            </a:r>
          </a:p>
        </p:txBody>
      </p:sp>
      <p:sp>
        <p:nvSpPr>
          <p:cNvPr id="257" name="Text 23"/>
          <p:cNvSpPr txBox="1"/>
          <p:nvPr/>
        </p:nvSpPr>
        <p:spPr>
          <a:xfrm>
            <a:off x="5029200" y="1469135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7C93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$ python piedra_papel_tijera.py</a:t>
            </a:r>
          </a:p>
        </p:txBody>
      </p:sp>
      <p:sp>
        <p:nvSpPr>
          <p:cNvPr id="258" name="Text 25"/>
          <p:cNvSpPr txBox="1"/>
          <p:nvPr/>
        </p:nvSpPr>
        <p:spPr>
          <a:xfrm>
            <a:off x="5029200" y="2145792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A9EB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=== PIEDRA, PAPEL O TIJERA ===</a:t>
            </a:r>
          </a:p>
        </p:txBody>
      </p:sp>
      <p:sp>
        <p:nvSpPr>
          <p:cNvPr id="259" name="Text 26"/>
          <p:cNvSpPr txBox="1"/>
          <p:nvPr/>
        </p:nvSpPr>
        <p:spPr>
          <a:xfrm>
            <a:off x="5029200" y="2484120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1) Jugar  2) Historial  3) Salir</a:t>
            </a:r>
          </a:p>
        </p:txBody>
      </p:sp>
      <p:sp>
        <p:nvSpPr>
          <p:cNvPr id="260" name="Text 27"/>
          <p:cNvSpPr txBox="1"/>
          <p:nvPr/>
        </p:nvSpPr>
        <p:spPr>
          <a:xfrm>
            <a:off x="5029200" y="2822448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BD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&gt; 1</a:t>
            </a:r>
          </a:p>
        </p:txBody>
      </p:sp>
      <p:sp>
        <p:nvSpPr>
          <p:cNvPr id="261" name="Text 28"/>
          <p:cNvSpPr txBox="1"/>
          <p:nvPr/>
        </p:nvSpPr>
        <p:spPr>
          <a:xfrm>
            <a:off x="5029200" y="3160776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FBD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Elige (piedra/papel/tijera): piedra</a:t>
            </a:r>
          </a:p>
        </p:txBody>
      </p:sp>
      <p:sp>
        <p:nvSpPr>
          <p:cNvPr id="262" name="Text 29"/>
          <p:cNvSpPr txBox="1"/>
          <p:nvPr/>
        </p:nvSpPr>
        <p:spPr>
          <a:xfrm>
            <a:off x="5029200" y="3499103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La PC eligió: tijera</a:t>
            </a:r>
          </a:p>
        </p:txBody>
      </p:sp>
      <p:sp>
        <p:nvSpPr>
          <p:cNvPr id="263" name="Text 30"/>
          <p:cNvSpPr txBox="1"/>
          <p:nvPr/>
        </p:nvSpPr>
        <p:spPr>
          <a:xfrm>
            <a:off x="5029200" y="3805681"/>
            <a:ext cx="361188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7C93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¡Ganaste! ✊ vence a ✂️</a:t>
            </a:r>
          </a:p>
        </p:txBody>
      </p:sp>
      <p:sp>
        <p:nvSpPr>
          <p:cNvPr id="264" name="Text 31"/>
          <p:cNvSpPr txBox="1"/>
          <p:nvPr/>
        </p:nvSpPr>
        <p:spPr>
          <a:xfrm>
            <a:off x="5029200" y="4175759"/>
            <a:ext cx="36118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A9EB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Jugador: 1 | PC: 0 | Empates: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340"/>
          </a:solidFill>
          <a:ln w="12700">
            <a:solidFill>
              <a:srgbClr val="2C334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"/>
          <p:cNvSpPr txBox="1"/>
          <p:nvPr/>
        </p:nvSpPr>
        <p:spPr>
          <a:xfrm>
            <a:off x="502919" y="2383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Conclusión Personal</a:t>
            </a:r>
          </a:p>
        </p:txBody>
      </p:sp>
      <p:sp>
        <p:nvSpPr>
          <p:cNvPr id="268" name="Text 2"/>
          <p:cNvSpPr txBox="1"/>
          <p:nvPr/>
        </p:nvSpPr>
        <p:spPr>
          <a:xfrm>
            <a:off x="502919" y="1139759"/>
            <a:ext cx="8138161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4F5F7"/>
                </a:solidFill>
              </a:defRPr>
            </a:lvl1pPr>
          </a:lstStyle>
          <a:p>
            <a:pPr/>
            <a:r>
              <a:t>Este proyecto me permitió aplicar de forma práctica todos los fundamentos vistos en las 4 unidades de Lógica de Programación. Desarrollar el software de Piedra, Papel o Tijera fue una experiencia completa que me enseñó a pensar de forma lógica y estructurada.</a:t>
            </a:r>
          </a:p>
        </p:txBody>
      </p:sp>
      <p:sp>
        <p:nvSpPr>
          <p:cNvPr id="269" name="Shape 3"/>
          <p:cNvSpPr/>
          <p:nvPr/>
        </p:nvSpPr>
        <p:spPr>
          <a:xfrm>
            <a:off x="457200" y="2194560"/>
            <a:ext cx="8229600" cy="475488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4"/>
          <p:cNvSpPr txBox="1"/>
          <p:nvPr/>
        </p:nvSpPr>
        <p:spPr>
          <a:xfrm>
            <a:off x="594359" y="2202433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🧠</a:t>
            </a:r>
          </a:p>
        </p:txBody>
      </p:sp>
      <p:sp>
        <p:nvSpPr>
          <p:cNvPr id="271" name="Text 5"/>
          <p:cNvSpPr txBox="1"/>
          <p:nvPr/>
        </p:nvSpPr>
        <p:spPr>
          <a:xfrm>
            <a:off x="1143000" y="2348923"/>
            <a:ext cx="7315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5F7"/>
                </a:solidFill>
              </a:defRPr>
            </a:lvl1pPr>
          </a:lstStyle>
          <a:p>
            <a:pPr/>
            <a:r>
              <a:t>Lógica aplicada a un problema real y funcional</a:t>
            </a:r>
          </a:p>
        </p:txBody>
      </p:sp>
      <p:sp>
        <p:nvSpPr>
          <p:cNvPr id="272" name="Shape 6"/>
          <p:cNvSpPr/>
          <p:nvPr/>
        </p:nvSpPr>
        <p:spPr>
          <a:xfrm>
            <a:off x="457200" y="2761488"/>
            <a:ext cx="8229600" cy="475488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7"/>
          <p:cNvSpPr txBox="1"/>
          <p:nvPr/>
        </p:nvSpPr>
        <p:spPr>
          <a:xfrm>
            <a:off x="594359" y="2769362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🏗️</a:t>
            </a:r>
          </a:p>
        </p:txBody>
      </p:sp>
      <p:sp>
        <p:nvSpPr>
          <p:cNvPr id="274" name="Text 8"/>
          <p:cNvSpPr txBox="1"/>
          <p:nvPr/>
        </p:nvSpPr>
        <p:spPr>
          <a:xfrm>
            <a:off x="1143000" y="2915851"/>
            <a:ext cx="7315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5F7"/>
                </a:solidFill>
              </a:defRPr>
            </a:lvl1pPr>
          </a:lstStyle>
          <a:p>
            <a:pPr/>
            <a:r>
              <a:t>Código organizado en bloques claros, legibles y modulares</a:t>
            </a:r>
          </a:p>
        </p:txBody>
      </p:sp>
      <p:sp>
        <p:nvSpPr>
          <p:cNvPr id="275" name="Shape 9"/>
          <p:cNvSpPr/>
          <p:nvPr/>
        </p:nvSpPr>
        <p:spPr>
          <a:xfrm>
            <a:off x="457200" y="3328415"/>
            <a:ext cx="8229600" cy="475488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10"/>
          <p:cNvSpPr txBox="1"/>
          <p:nvPr/>
        </p:nvSpPr>
        <p:spPr>
          <a:xfrm>
            <a:off x="594359" y="3336289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🔄</a:t>
            </a:r>
          </a:p>
        </p:txBody>
      </p:sp>
      <p:sp>
        <p:nvSpPr>
          <p:cNvPr id="277" name="Text 11"/>
          <p:cNvSpPr txBox="1"/>
          <p:nvPr/>
        </p:nvSpPr>
        <p:spPr>
          <a:xfrm>
            <a:off x="1143000" y="3482778"/>
            <a:ext cx="7315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5F7"/>
                </a:solidFill>
              </a:defRPr>
            </a:lvl1pPr>
          </a:lstStyle>
          <a:p>
            <a:pPr/>
            <a:r>
              <a:t>Dominio de bucles y estructuras condicionales combinadas</a:t>
            </a:r>
          </a:p>
        </p:txBody>
      </p:sp>
      <p:sp>
        <p:nvSpPr>
          <p:cNvPr id="278" name="Shape 12"/>
          <p:cNvSpPr/>
          <p:nvPr/>
        </p:nvSpPr>
        <p:spPr>
          <a:xfrm>
            <a:off x="457200" y="3895344"/>
            <a:ext cx="8229600" cy="475488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13"/>
          <p:cNvSpPr txBox="1"/>
          <p:nvPr/>
        </p:nvSpPr>
        <p:spPr>
          <a:xfrm>
            <a:off x="594359" y="3903218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🗂️</a:t>
            </a:r>
          </a:p>
        </p:txBody>
      </p:sp>
      <p:sp>
        <p:nvSpPr>
          <p:cNvPr id="280" name="Text 14"/>
          <p:cNvSpPr txBox="1"/>
          <p:nvPr/>
        </p:nvSpPr>
        <p:spPr>
          <a:xfrm>
            <a:off x="1143000" y="4049707"/>
            <a:ext cx="73152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5F7"/>
                </a:solidFill>
              </a:defRPr>
            </a:lvl1pPr>
          </a:lstStyle>
          <a:p>
            <a:pPr/>
            <a:r>
              <a:t>Gestión de datos con listas, tuplas y diccionarios de Python</a:t>
            </a:r>
          </a:p>
        </p:txBody>
      </p:sp>
      <p:sp>
        <p:nvSpPr>
          <p:cNvPr id="281" name="Shape 15"/>
          <p:cNvSpPr/>
          <p:nvPr/>
        </p:nvSpPr>
        <p:spPr>
          <a:xfrm>
            <a:off x="457200" y="4462271"/>
            <a:ext cx="8229600" cy="475488"/>
          </a:xfrm>
          <a:prstGeom prst="rect">
            <a:avLst/>
          </a:prstGeom>
          <a:solidFill>
            <a:srgbClr val="2C3340"/>
          </a:solidFill>
          <a:ln w="12700">
            <a:solidFill>
              <a:srgbClr val="3D4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6"/>
          <p:cNvSpPr txBox="1"/>
          <p:nvPr/>
        </p:nvSpPr>
        <p:spPr>
          <a:xfrm>
            <a:off x="594359" y="4470145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📂</a:t>
            </a:r>
          </a:p>
        </p:txBody>
      </p:sp>
      <p:sp>
        <p:nvSpPr>
          <p:cNvPr id="283" name="Text 17"/>
          <p:cNvSpPr txBox="1"/>
          <p:nvPr/>
        </p:nvSpPr>
        <p:spPr>
          <a:xfrm>
            <a:off x="1143000" y="4616634"/>
            <a:ext cx="7315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5F7"/>
                </a:solidFill>
              </a:defRPr>
            </a:lvl1pPr>
          </a:lstStyle>
          <a:p>
            <a:pPr/>
            <a:r>
              <a:t>Publicación del proyecto completo en repositorio GitHub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4A9EBF"/>
          </a:solidFill>
          <a:ln w="12700">
            <a:solidFill>
              <a:srgbClr val="4A9EB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1"/>
          <p:cNvSpPr txBox="1"/>
          <p:nvPr/>
        </p:nvSpPr>
        <p:spPr>
          <a:xfrm>
            <a:off x="411479" y="1397049"/>
            <a:ext cx="8321041" cy="954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6800">
                <a:solidFill>
                  <a:srgbClr val="FFFFFF"/>
                </a:solidFill>
              </a:defRPr>
            </a:lvl1pPr>
          </a:lstStyle>
          <a:p>
            <a:pPr/>
            <a:r>
              <a:t>Gracias</a:t>
            </a:r>
          </a:p>
        </p:txBody>
      </p:sp>
      <p:sp>
        <p:nvSpPr>
          <p:cNvPr id="287" name="Text 2"/>
          <p:cNvSpPr txBox="1"/>
          <p:nvPr/>
        </p:nvSpPr>
        <p:spPr>
          <a:xfrm>
            <a:off x="411479" y="2847647"/>
            <a:ext cx="8321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200">
                <a:solidFill>
                  <a:srgbClr val="8A9BB0"/>
                </a:solidFill>
              </a:defRPr>
            </a:lvl1pPr>
          </a:lstStyle>
          <a:p>
            <a:pPr/>
            <a:r>
              <a:t>Juego Piedra, Papel o Tijera · Trabajo Final · Lógica de Programación · UIDE</a:t>
            </a:r>
          </a:p>
        </p:txBody>
      </p:sp>
      <p:sp>
        <p:nvSpPr>
          <p:cNvPr id="288" name="Shape 3"/>
          <p:cNvSpPr/>
          <p:nvPr/>
        </p:nvSpPr>
        <p:spPr>
          <a:xfrm>
            <a:off x="2743200" y="3337559"/>
            <a:ext cx="3657600" cy="27433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4"/>
          <p:cNvSpPr txBox="1"/>
          <p:nvPr/>
        </p:nvSpPr>
        <p:spPr>
          <a:xfrm>
            <a:off x="411479" y="3551735"/>
            <a:ext cx="8321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A9BB0"/>
                </a:solidFill>
              </a:defRPr>
            </a:lvl1pPr>
          </a:lstStyle>
          <a:p>
            <a:pPr/>
            <a:r>
              <a:t>Docente: Ing. Mónica Salazar  ·  Ingeniería en Software  ·  01/03/2026</a:t>
            </a:r>
          </a:p>
        </p:txBody>
      </p:sp>
      <p:sp>
        <p:nvSpPr>
          <p:cNvPr id="290" name="Text 5"/>
          <p:cNvSpPr txBox="1"/>
          <p:nvPr/>
        </p:nvSpPr>
        <p:spPr>
          <a:xfrm>
            <a:off x="411479" y="4095749"/>
            <a:ext cx="832104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✊  📄  ✂️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